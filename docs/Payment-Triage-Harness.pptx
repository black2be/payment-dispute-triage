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-1005840"/>
            <a:ext cx="3108960" cy="310896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3" name="Shape 1"/>
          <p:cNvSpPr/>
          <p:nvPr/>
        </p:nvSpPr>
        <p:spPr>
          <a:xfrm>
            <a:off x="8503920" y="3291840"/>
            <a:ext cx="2011680" cy="201168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1 · SPEC-DRIVEN DELIVERY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that builds itself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40080" y="24688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Payment Dispute Triage prototype with Kiro — guided by a spec pack, steering, and hooks under AI SDLC governance.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4160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Engineer view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Engineering Community of Practice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Triaging payment disputes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debits, failed transfers, missing payments and unauthorized transactions arrive at high volume. Front-line staff gather data from multiple systems, interpret each case, and decide what to do — slowly and inconsistently.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15087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B1B33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3364992"/>
            <a:ext cx="420624" cy="420624"/>
          </a:xfrm>
          <a:prstGeom prst="ellipse">
            <a:avLst/>
          </a:prstGeom>
          <a:solidFill>
            <a:srgbClr val="0FB5A6"/>
          </a:solidFill>
          <a:ln w="12700">
            <a:solidFill>
              <a:srgbClr val="0FB5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364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38221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4078224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scattered across systems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67712" y="3200400"/>
            <a:ext cx="15087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B1B33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432304" y="3364992"/>
            <a:ext cx="420624" cy="420624"/>
          </a:xfrm>
          <a:prstGeom prst="ellipse">
            <a:avLst/>
          </a:prstGeom>
          <a:solidFill>
            <a:srgbClr val="0FB5A6"/>
          </a:solidFill>
          <a:ln w="12700">
            <a:solidFill>
              <a:srgbClr val="0FB5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32304" y="3364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404872" y="38221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404872" y="4078224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analyst decides differently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895344" y="3200400"/>
            <a:ext cx="15087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B1B33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059936" y="3364992"/>
            <a:ext cx="420624" cy="420624"/>
          </a:xfrm>
          <a:prstGeom prst="ellipse">
            <a:avLst/>
          </a:prstGeom>
          <a:solidFill>
            <a:srgbClr val="0FB5A6"/>
          </a:solidFill>
          <a:ln w="12700">
            <a:solidFill>
              <a:srgbClr val="0FB5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59936" y="3364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032504" y="38221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032504" y="4078224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turnaround hurts trust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715000" y="1554480"/>
            <a:ext cx="2788920" cy="2926080"/>
          </a:xfrm>
          <a:prstGeom prst="roundRect">
            <a:avLst>
              <a:gd name="adj" fmla="val 2623"/>
            </a:avLst>
          </a:prstGeom>
          <a:solidFill>
            <a:srgbClr val="13294B"/>
          </a:solidFill>
          <a:ln/>
          <a:effectLst>
            <a:outerShdw sx="100000" sy="100000" kx="0" ky="0" algn="bl" rotWithShape="0" blurRad="114300" dist="38100" dir="5400000">
              <a:srgbClr val="0B1B33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94360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question, per case: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943600" y="22860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“Given this dispute, what is the right next step right now?”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5943600" y="3931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· Investigate · Escalate · Refer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CHALLENGE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with AI — consistently, at scale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squads and 150+ developers using AI tooling drift fast: shadow tools, inconsistent posture, and “vibe-coding” technical debt at industrial speed.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971800"/>
            <a:ext cx="22860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B1B33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31546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B5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150+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731520" y="3931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developers, one governed way to build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715000" y="1554480"/>
            <a:ext cx="2788920" cy="2926080"/>
          </a:xfrm>
          <a:prstGeom prst="roundRect">
            <a:avLst>
              <a:gd name="adj" fmla="val 2623"/>
            </a:avLst>
          </a:prstGeom>
          <a:solidFill>
            <a:srgbClr val="0E7C7B"/>
          </a:solidFill>
          <a:ln/>
          <a:effectLst>
            <a:outerShdw sx="100000" sy="100000" kx="0" ky="0" algn="bl" rotWithShape="0" blurRad="114300" dist="38100" dir="5400000">
              <a:srgbClr val="0B1B33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0" y="1874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insight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0" y="228600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didn’t just build an app. We built the harness that builds the app.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harness: four layers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8288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B1B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38528"/>
            <a:ext cx="457200" cy="457200"/>
          </a:xfrm>
          <a:prstGeom prst="ellipse">
            <a:avLst/>
          </a:prstGeom>
          <a:solidFill>
            <a:srgbClr val="0FB5A6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4672" y="25420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04672" y="29260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build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3291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→ design → tasks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50592" y="2651760"/>
            <a:ext cx="23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670048" y="1737360"/>
            <a:ext cx="18288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B1B33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834640" y="1938528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3" name="Text 11"/>
          <p:cNvSpPr/>
          <p:nvPr/>
        </p:nvSpPr>
        <p:spPr>
          <a:xfrm>
            <a:off x="283464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834640" y="25420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Steering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834640" y="29260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build it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834640" y="3291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 project context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480560" y="2651760"/>
            <a:ext cx="23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700016" y="1737360"/>
            <a:ext cx="18288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B1B33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64608" y="193852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0" name="Text 18"/>
          <p:cNvSpPr/>
          <p:nvPr/>
        </p:nvSpPr>
        <p:spPr>
          <a:xfrm>
            <a:off x="4864608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864608" y="25420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Hooks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4864608" y="29260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64608" y="3291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· type-check · test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10528" y="2651760"/>
            <a:ext cx="23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729984" y="1737360"/>
            <a:ext cx="18288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B1B33">
                <a:alpha val="1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894576" y="1938528"/>
            <a:ext cx="457200" cy="45720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7" name="Text 25"/>
          <p:cNvSpPr/>
          <p:nvPr/>
        </p:nvSpPr>
        <p:spPr>
          <a:xfrm>
            <a:off x="6894576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894576" y="25420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6894576" y="29260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recipes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894576" y="3291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frontend-design, page-from-spec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0080" y="4297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say what; steering says how and is always-on; hooks enforce; skills are reusable.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DAY-1 INPUTS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spec pack, role by role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402336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B1B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  —  human artefacts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945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Analyst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697480" y="21945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requirements.md (EARS)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25786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697480" y="25786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architecture.md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2962656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Designer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697480" y="296265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api-spec.md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334670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 Designer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697480" y="334670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ui-spec.md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373075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Architect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697480" y="373075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test-cases.md (51 cases)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8680" y="41148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Engineer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697480" y="4114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test-plan.md (traceability)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92040" y="1600200"/>
            <a:ext cx="3611880" cy="2926080"/>
          </a:xfrm>
          <a:prstGeom prst="roundRect">
            <a:avLst>
              <a:gd name="adj" fmla="val 2500"/>
            </a:avLst>
          </a:prstGeom>
          <a:solidFill>
            <a:srgbClr val="13294B"/>
          </a:solidFill>
          <a:ln/>
          <a:effectLst>
            <a:outerShdw sx="100000" sy="100000" kx="0" ky="0" algn="bl" rotWithShape="0" blurRad="114300" dist="38100" dir="5400000">
              <a:srgbClr val="0B1B33">
                <a:alpha val="1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120640" y="1783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.kiro/specs  —  Kiro 3-phase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120640" y="2286000"/>
            <a:ext cx="384048" cy="384048"/>
          </a:xfrm>
          <a:prstGeom prst="ellipse">
            <a:avLst/>
          </a:prstGeom>
          <a:solidFill>
            <a:srgbClr val="0FB5A6"/>
          </a:solidFill>
          <a:ln w="12700">
            <a:solidFill>
              <a:srgbClr val="0FB5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20640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623560" y="22677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requirements.md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623560" y="2560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EARS + acceptance criteria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120640" y="2999232"/>
            <a:ext cx="384048" cy="384048"/>
          </a:xfrm>
          <a:prstGeom prst="ellipse">
            <a:avLst/>
          </a:prstGeom>
          <a:solidFill>
            <a:srgbClr val="0FB5A6"/>
          </a:solidFill>
          <a:ln w="12700">
            <a:solidFill>
              <a:srgbClr val="0FB5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120640" y="2999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623560" y="298094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design.md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623560" y="327355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· rules · API · UI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0" y="3712464"/>
            <a:ext cx="384048" cy="384048"/>
          </a:xfrm>
          <a:prstGeom prst="ellipse">
            <a:avLst/>
          </a:prstGeom>
          <a:solidFill>
            <a:srgbClr val="0FB5A6"/>
          </a:solidFill>
          <a:ln w="12700">
            <a:solidFill>
              <a:srgbClr val="0FB5A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20640" y="3712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623560" y="369417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tasks.md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623560" y="398678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sequenced, trackable build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Always-on context — budgeted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78638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B1B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0136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B5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468880" y="180136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every prompt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26280" y="1801368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· tech · structure · conventions · governance · 00-instructions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624328"/>
            <a:ext cx="78638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B1B33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273405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fileMatch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468880" y="27340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when a file matches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26280" y="2734056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testing-standards → only with *.test.ts open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557016"/>
            <a:ext cx="78638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B1B33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3666744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468880" y="366674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on demand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26280" y="3666744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api-standards → via #api-standards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4526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inclusion mode decides what Kiro sees, and when — that is the Harness Engineer’s lever.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Steering → code: it landed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5029200" cy="914400"/>
        </p:xfrm>
        <a:graphic>
          <a:graphicData uri="http://schemas.openxmlformats.org/drawingml/2006/table">
            <a:tbl>
              <a:tblPr/>
              <a:tblGrid>
                <a:gridCol w="502920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structure.md → 7 engine modules + IDs R1…R6 verbatim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design.md §2.1 → code-form enums in the engine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constants.ts → 10k / 1k / 7 / 30 thresholds, centralized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REQ-01.6 → enum-injection rejection in validation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tech.md → exact stack (React/Vite/Express/Prisma/Vitest/fast-check)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testing-standards → P1–P7 property tests present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60020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13294B"/>
          </a:solidFill>
          <a:ln/>
          <a:effectLst>
            <a:outerShdw sx="100000" sy="100000" kx="0" ky="0" algn="bl" rotWithShape="0" blurRad="114300" dist="38100" dir="5400000">
              <a:srgbClr val="0B1B33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035040" y="164592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B5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7/7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6903720" y="169164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modules built to spec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897880" y="2578608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13294B"/>
          </a:solidFill>
          <a:ln/>
          <a:effectLst>
            <a:outerShdw sx="100000" sy="100000" kx="0" ky="0" algn="bl" rotWithShape="0" blurRad="114300" dist="38100" dir="5400000">
              <a:srgbClr val="0B1B33">
                <a:alpha val="16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035040" y="2624328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B5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6903720" y="2670048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rules, first-match-wins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897880" y="3557016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13294B"/>
          </a:solidFill>
          <a:ln/>
          <a:effectLst>
            <a:outerShdw sx="100000" sy="100000" kx="0" ky="0" algn="bl" rotWithShape="0" blurRad="114300" dist="38100" dir="5400000">
              <a:srgbClr val="0B1B33">
                <a:alpha val="1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035040" y="3602736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B5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903720" y="3648456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cases mapped to REQs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FINDING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steering didn’t hold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is guidance, not a hard gate — only hooks block.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977640" cy="2514600"/>
          </a:xfrm>
          <a:prstGeom prst="roundRect">
            <a:avLst>
              <a:gd name="adj" fmla="val 2909"/>
            </a:avLst>
          </a:prstGeom>
          <a:solidFill>
            <a:srgbClr val="F4F7FB"/>
          </a:solidFill>
          <a:ln/>
          <a:effectLst>
            <a:outerShdw sx="100000" sy="100000" kx="0" ky="0" algn="bl" rotWithShape="0" blurRad="114300" dist="38100" dir="5400000">
              <a:srgbClr val="0B1B33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148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drift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51460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grew its own duplicate engine and runs triage in the browser — bypassing the server.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copies drifted: display-label vs code-form enums; disputeDate vs transactionDate.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846320" y="1965960"/>
            <a:ext cx="3657600" cy="2514600"/>
          </a:xfrm>
          <a:prstGeom prst="roundRect">
            <a:avLst>
              <a:gd name="adj" fmla="val 2909"/>
            </a:avLst>
          </a:prstGeom>
          <a:solidFill>
            <a:srgbClr val="13294B"/>
          </a:solidFill>
          <a:ln/>
          <a:effectLst>
            <a:outerShdw sx="100000" sy="100000" kx="0" ky="0" algn="bl" rotWithShape="0" blurRad="114300" dist="38100" dir="5400000">
              <a:srgbClr val="0B1B33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74920" y="2148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Day-2 fix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74920" y="2514600"/>
            <a:ext cx="3246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Tighten the layering rule in structure.md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hook that flags a second engine copy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decide client-only and delete the duplication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shipped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8862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B1B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420624" cy="420624"/>
          </a:xfrm>
          <a:prstGeom prst="ellipse">
            <a:avLst/>
          </a:prstGeom>
          <a:solidFill>
            <a:srgbClr val="0FB5A6"/>
          </a:solidFill>
          <a:ln w="12700">
            <a:solidFill>
              <a:srgbClr val="0FB5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185623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engine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22402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actions · 6 deterministic rules · explainable reasoning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1691640"/>
            <a:ext cx="38862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B1B33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92040" y="1874520"/>
            <a:ext cx="420624" cy="420624"/>
          </a:xfrm>
          <a:prstGeom prst="ellipse">
            <a:avLst/>
          </a:prstGeom>
          <a:solidFill>
            <a:srgbClr val="0FB5A6"/>
          </a:solidFill>
          <a:ln w="12700">
            <a:solidFill>
              <a:srgbClr val="0FB5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40680" y="185623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3-tier app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440680" y="22402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 + Tailwind · Express · Prisma + SQLite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063240"/>
            <a:ext cx="38862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B1B33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3246120"/>
            <a:ext cx="420624" cy="420624"/>
          </a:xfrm>
          <a:prstGeom prst="ellipse">
            <a:avLst/>
          </a:prstGeom>
          <a:solidFill>
            <a:srgbClr val="0FB5A6"/>
          </a:solidFill>
          <a:ln w="12700">
            <a:solidFill>
              <a:srgbClr val="0FB5A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246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71600" y="322783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 + governance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71600" y="36118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OSV CVE/malware · secrets/PII · compliance evidence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09160" y="3063240"/>
            <a:ext cx="38862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B1B33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92040" y="3246120"/>
            <a:ext cx="420624" cy="420624"/>
          </a:xfrm>
          <a:prstGeom prst="ellipse">
            <a:avLst/>
          </a:prstGeom>
          <a:solidFill>
            <a:srgbClr val="0FB5A6"/>
          </a:solidFill>
          <a:ln w="12700">
            <a:solidFill>
              <a:srgbClr val="0FB5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92040" y="3246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440680" y="322783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EC2 deploy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5440680" y="36118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+ Caddy auto-HTTPS · af-south-1 (POPIA)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4526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Mock-data only · rules-based, no AI/ML in the decision path · governed end to end.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108960"/>
            <a:ext cx="2743200" cy="2743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-822960"/>
            <a:ext cx="2194560" cy="219456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 guidance shapes.</a:t>
            </a:r>
            <a:endParaRPr lang="en-US" sz="3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 gates enforce.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delivery moved the build a long way — stack, structure, rules and tests landed as specified. The one drift is exactly what the Harness Engineer tunes next.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297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Governed, spec-driven AI delivery — demonstrated end to end.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Payment Dispute Triage — Spec-Driven Delivery with Kiro</dc:title>
  <dc:subject>PptxGenJS Presentation</dc:subject>
  <dc:creator>Harness Engineer</dc:creator>
  <cp:lastModifiedBy>Harness Engineer</cp:lastModifiedBy>
  <cp:revision>1</cp:revision>
  <dcterms:created xsi:type="dcterms:W3CDTF">2026-06-23T10:47:13Z</dcterms:created>
  <dcterms:modified xsi:type="dcterms:W3CDTF">2026-06-23T10:47:13Z</dcterms:modified>
</cp:coreProperties>
</file>